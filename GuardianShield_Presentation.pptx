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GUARDIANSHIELD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91440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Research-Based Framework for
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Well-Being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Content Review Teams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3383280"/>
            <a:ext cx="5029200" cy="822960"/>
          </a:xfrm>
          <a:prstGeom prst="rect">
            <a:avLst/>
          </a:prstGeom>
          <a:solidFill>
            <a:srgbClr val="1B3044"/>
          </a:solidFill>
          <a:ln w="12700">
            <a:solidFill>
              <a:srgbClr val="1B30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4564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 research with 60 BPO &amp; content review professionals  |  Hyderabad, 2024
</a:t>
            </a:r>
            <a:pPr indent="0" marL="0">
              <a:buNone/>
            </a:pPr>
            <a:r>
              <a:rPr lang="en-US" sz="90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Maslach Burnout Inventory · PHQ-9 Depression Screen · PCL-5 Trauma Checklist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365760"/>
            <a:ext cx="2560320" cy="2560320"/>
          </a:xfrm>
          <a:prstGeom prst="ellipse">
            <a:avLst/>
          </a:prstGeom>
          <a:solidFill>
            <a:srgbClr val="0E7C86">
              <a:alpha val="15000"/>
            </a:srgbClr>
          </a:solidFill>
          <a:ln w="12700">
            <a:solidFill>
              <a:srgbClr val="0E7C86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822960"/>
            <a:ext cx="2011680" cy="2011680"/>
          </a:xfrm>
          <a:prstGeom prst="ellipse">
            <a:avLst/>
          </a:prstGeom>
          <a:solidFill>
            <a:srgbClr val="14A4B0">
              <a:alpha val="20000"/>
            </a:srgbClr>
          </a:solidFill>
          <a:ln w="12700">
            <a:solidFill>
              <a:srgbClr val="14A4B0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675120" y="960120"/>
            <a:ext cx="1645920" cy="1645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 ·  Trauma-Informed  ·  Operationally Deployable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044"/>
          </a:solidFill>
          <a:ln w="12700">
            <a:solidFill>
              <a:srgbClr val="1B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disturbing content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hours daily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103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5400" dirty="0"/>
          </a:p>
        </p:txBody>
      </p:sp>
      <p:sp>
        <p:nvSpPr>
          <p:cNvPr id="13" name="Text 9"/>
          <p:cNvSpPr/>
          <p:nvPr/>
        </p:nvSpPr>
        <p:spPr>
          <a:xfrm>
            <a:off x="338328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employer-provided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access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097280"/>
            <a:ext cx="265176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103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5400" dirty="0"/>
          </a:p>
        </p:txBody>
      </p:sp>
      <p:sp>
        <p:nvSpPr>
          <p:cNvPr id="18" name="Text 13"/>
          <p:cNvSpPr/>
          <p:nvPr/>
        </p:nvSpPr>
        <p:spPr>
          <a:xfrm>
            <a:off x="630936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considering leaving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 months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GuardianShield Primary Research, N=60 BPO &amp; Content Review Professionals, Hyderabad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COST OF INACTION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09728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1 trained content moderator costs 50–200% of their annual salary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· Society for Human Resource Management (SHRM) ·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8503920" cy="457200"/>
          </a:xfrm>
          <a:prstGeom prst="rect">
            <a:avLst/>
          </a:prstGeom>
          <a:solidFill>
            <a:srgbClr val="1B3044"/>
          </a:solidFill>
          <a:ln w="12700">
            <a:solidFill>
              <a:srgbClr val="1B3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50 moderators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221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642616"/>
            <a:ext cx="8503920" cy="457200"/>
          </a:xfrm>
          <a:prstGeom prst="rect">
            <a:avLst/>
          </a:prstGeom>
          <a:solidFill>
            <a:srgbClr val="182840"/>
          </a:solidFill>
          <a:ln w="12700">
            <a:solidFill>
              <a:srgbClr val="182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883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intent-to-leave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7157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survey (n=60)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136392"/>
            <a:ext cx="8503920" cy="457200"/>
          </a:xfrm>
          <a:prstGeom prst="rect">
            <a:avLst/>
          </a:prstGeom>
          <a:solidFill>
            <a:srgbClr val="1B3044"/>
          </a:solidFill>
          <a:ln w="12700">
            <a:solidFill>
              <a:srgbClr val="1B3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23 moderators at risk of leaving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2095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 months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630168"/>
            <a:ext cx="8503920" cy="457200"/>
          </a:xfrm>
          <a:prstGeom prst="rect">
            <a:avLst/>
          </a:prstGeom>
          <a:solidFill>
            <a:srgbClr val="182840"/>
          </a:solidFill>
          <a:ln w="12700">
            <a:solidFill>
              <a:srgbClr val="182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₹3.5L avg. BPO salary · 100% replacement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703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123944"/>
            <a:ext cx="850392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966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₹80.5 LAKH projected annual replacement cost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044"/>
          </a:solidFill>
          <a:ln w="12700">
            <a:solidFill>
              <a:srgbClr val="1B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GAP — What Works vs. What Exists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rate these supports as highly effective — yet almost none have access to them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32588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99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Peer Debrief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4348886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48118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rate as effective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755648"/>
            <a:ext cx="954634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3866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have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130552"/>
            <a:ext cx="9144000" cy="749808"/>
          </a:xfrm>
          <a:prstGeom prst="rect">
            <a:avLst/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2037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Category Rotation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221992"/>
            <a:ext cx="4030675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9907" y="2221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rate as effective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560320"/>
            <a:ext cx="1272845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2077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have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2935224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30083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/ EAP Counsellor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026664"/>
            <a:ext cx="3765499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4731" y="3026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rate as effective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3364992"/>
            <a:ext cx="848563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7795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have access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3739896"/>
            <a:ext cx="9144000" cy="749808"/>
          </a:xfrm>
          <a:prstGeom prst="rect">
            <a:avLst/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Exposure Hour Limits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3831336"/>
            <a:ext cx="3606394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5626" y="3831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rate as effective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4169664"/>
            <a:ext cx="63642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5654" y="4169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have access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4663440"/>
            <a:ext cx="182880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effective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4663440"/>
            <a:ext cx="18288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access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SHOWS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pts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MBI Exhaustion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 reviewing 5+ hrs/day score 11.6/18 on Exhaustion vs. 8.2/18 for those under 3 hrs. Largest effect in dataset.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≥10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4612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43% of high-exposure respondents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72491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8346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5+ hr/day reviewers scored ≥10 on PHQ-9 (moderate depression signal) vs. 12% of those reviewing &lt;3 hrs daily.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avoidance as primary coping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72491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346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'Avoiding thinking about it' was the most common coping mechanism — rated only 2.1/5 for effectiveness. A critical failure of support design.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3-TIER RESILIENCE FRAMEWORK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survey data — not imposed from theory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93192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1704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8328" y="1755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moderator controls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" y="2075688"/>
            <a:ext cx="2523744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17627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Pre-shift cognitive framing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content category cap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exposure 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Post-shift decompression ritual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005840"/>
            <a:ext cx="2743200" cy="393192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005840"/>
            <a:ext cx="274320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7043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74904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264408" y="1755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supervisor controls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64408" y="2075688"/>
            <a:ext cx="2523744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217627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check-in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calibration + cohesion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rotation (4-week max)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STS training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80760" y="1005840"/>
            <a:ext cx="2743200" cy="393192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7043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512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67512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90488" y="1755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HR &amp; leadership control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190488" y="2075688"/>
            <a:ext cx="2523744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63640" y="217627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PHQ-9/PCL-5 screening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exposure hour limits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T&amp;S-specific EAP counsellors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Off-boarding support programme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971800" y="2697480"/>
            <a:ext cx="182880" cy="164592"/>
          </a:xfrm>
          <a:prstGeom prst="rect">
            <a:avLst/>
          </a:prstGeom>
          <a:solidFill>
            <a:srgbClr val="14A4B0"/>
          </a:solidFill>
          <a:ln w="12700">
            <a:solidFill>
              <a:srgbClr val="14A4B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897880" y="2697480"/>
            <a:ext cx="182880" cy="164592"/>
          </a:xfrm>
          <a:prstGeom prst="rect">
            <a:avLst/>
          </a:prstGeom>
          <a:solidFill>
            <a:srgbClr val="14A4B0"/>
          </a:solidFill>
          <a:ln w="12700">
            <a:solidFill>
              <a:srgbClr val="14A4B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044"/>
          </a:solidFill>
          <a:ln w="12700">
            <a:solidFill>
              <a:srgbClr val="1B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THIS MONTH — Zero Budget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789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Buddy Check-In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874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budget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group training session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supervisor who commits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29077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moderator with a specific peer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3–5 min check-in: 'How are you doing today?'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pairs rotate every 4 weeks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buddies to recognise when to escalate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977640"/>
            <a:ext cx="3931920" cy="804672"/>
          </a:xfrm>
          <a:prstGeom prst="rect">
            <a:avLst/>
          </a:prstGeom>
          <a:solidFill>
            <a:srgbClr val="0E7C86">
              <a:alpha val="12000"/>
            </a:srgbClr>
          </a:solidFill>
          <a:ln w="12700">
            <a:solidFill>
              <a:srgbClr val="0E7C86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0416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was rated most effective (4.3/5) by your team — but only 18% currently have access. This closes that gap immediately.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90872" y="914400"/>
            <a:ext cx="4206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90872" y="914400"/>
            <a:ext cx="420624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7899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30952" y="10789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Calibration + Cohesion (10-min add-on)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28032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28032" y="1874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calibration session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time — add to existing meeting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ground rule: no note-taking on personal disclosures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28032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28032" y="29077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 min: standard policy calibration (existing)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10 min: open floor for well-being concerns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to speak — presence is enough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facilitates, does not interrogate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28032" y="3977640"/>
            <a:ext cx="3931920" cy="804672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19472" y="40416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the #1 qualitative theme from open responses. This 10-minute window breaks it without breaking NDAs.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THIS QUARTER — Structural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6400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424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Category Rotation Policy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664208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moderator on same disturbing category for 4+ consecutive weeks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simple rotation calendar (spreadsheet is sufficient)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rotation with 30-min orientation for new category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 existing workforce management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" y="3657600"/>
            <a:ext cx="2523744" cy="1078992"/>
          </a:xfrm>
          <a:prstGeom prst="rect">
            <a:avLst/>
          </a:prstGeom>
          <a:solidFill>
            <a:srgbClr val="0B6E4F">
              <a:alpha val="12000"/>
            </a:srgbClr>
          </a:solidFill>
          <a:ln w="12700">
            <a:solidFill>
              <a:srgbClr val="0B6E4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730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24% of our respondents had access to rotation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76% who rated it highly effective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14400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424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Exposure Hour Limits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664208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policy: max 4 hrs high-severity review per 8-hr shift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try to manage it' is not a policy — this must be written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hours: lower-severity categories, QA, calibration, breaks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audit weekly; escalation path if breached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657600"/>
            <a:ext cx="2523744" cy="1078992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730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respondents had formal exposure limits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reviewed high-severity content 5+ hrs daily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91440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14400"/>
            <a:ext cx="27432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04241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STS Recognition Training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0488" y="1664208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MHFA (Mental Health First Aid) manager module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STS: withdrawal, errors, sarcasm, irritability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performance issue from mental health signal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open a conversation; referral pathway to HR/EAP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0488" y="3657600"/>
            <a:ext cx="2523744" cy="1078992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730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of respondents' supervisors had received STS training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open-text responses (n=34)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  (6–12 Months)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investments that make all other tiers sustainable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88620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1612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11430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Mental Health Screening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719072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PHQ-9 + PCL-5 subset administered every 3 months. Individual responses private; aggregate team trends reviewed by HR. Quarterly catches decline early — annual surveys miss it entirely.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4096512"/>
            <a:ext cx="2468880" cy="640080"/>
          </a:xfrm>
          <a:prstGeom prst="rect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0E7C8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" y="4187952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~₹0 (Google Form, internal admin)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005840"/>
            <a:ext cx="2743200" cy="388620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005840"/>
            <a:ext cx="27432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6128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9896" y="11430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T&amp;S-Specific EAP Counsellors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1719072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counsellor defaults to generic CBT. A counsellor briefed on content moderation VT/STS applies trauma-informed techniques from session one — no 3 sessions wasted on explanation.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91840" y="4096512"/>
            <a:ext cx="2468880" cy="640080"/>
          </a:xfrm>
          <a:prstGeom prst="rect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55848" y="4187952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₹800–1,200 per session · typical 3 sessions/employee/yr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80760" y="1005840"/>
            <a:ext cx="2743200" cy="388620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6128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65976" y="11430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Off-Boarding Support Programme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17920" y="1719072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EAP sessions post-exit, spread over 3 months. VT and STS symptoms often surface after exposure ends. Off-boarding support catches this. Larger T&amp;S clients offer a full year.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7920" y="4096512"/>
            <a:ext cx="2468880" cy="640080"/>
          </a:xfrm>
          <a:prstGeom prst="rect">
            <a:avLst/>
          </a:prstGeom>
          <a:solidFill>
            <a:srgbClr val="0B6E4F">
              <a:alpha val="20000"/>
            </a:srgbClr>
          </a:solidFill>
          <a:ln w="12700">
            <a:solidFill>
              <a:srgbClr val="0B6E4F">
                <a:alpha val="4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81928" y="4187952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₹3,000–5,000 total vs. ₹1.75L+ to replace one moderator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7830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ASKING FOR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small commitment — with measurable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</a:t>
            </a:r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at your next team manager meeting to present the Buddy System framework to your supervisors.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</a:t>
            </a:r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run a 4-week pilot of the Buddy System and Calibration add-on with one team, and report results back to HR.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0" cy="1234440"/>
          </a:xfrm>
          <a:prstGeom prst="rect">
            <a:avLst/>
          </a:prstGeom>
          <a:solidFill>
            <a:srgbClr val="1B30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374904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report, survey data, and framework document available upon request.
</a:t>
            </a:r>
            <a:pPr algn="ctr" indent="0" marL="0">
              <a:buNone/>
            </a:pPr>
            <a:r>
              <a:rPr lang="en-US" sz="100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survey responses on file · Validated tools: MBI-GS9 · PHQ-9 · PCL-5
</a:t>
            </a:r>
            <a:pPr algn="ctr" indent="0" marL="0">
              <a:buNone/>
            </a:pPr>
            <a:r>
              <a:rPr lang="en-US" sz="100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GuardianShield Research  |  guardianshield@research.in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GuardianShield: A Research-Based Framework for Moderator Well-Being</dc:title>
  <dc:subject>PptxGenJS Presentation</dc:subject>
  <dc:creator>GuardianShield Research</dc:creator>
  <cp:lastModifiedBy>GuardianShield Research</cp:lastModifiedBy>
  <cp:revision>1</cp:revision>
  <dcterms:created xsi:type="dcterms:W3CDTF">2026-05-15T05:07:50Z</dcterms:created>
  <dcterms:modified xsi:type="dcterms:W3CDTF">2026-05-15T05:07:50Z</dcterms:modified>
</cp:coreProperties>
</file>